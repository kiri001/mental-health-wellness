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54321"/>
                </a:solidFill>
                <a:latin typeface="Times New Roman"/>
              </a:defRPr>
            </a:pPr>
            <a:r>
              <a:t>Automated Pityriasis Alba Detection Using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Student Name: [Your Name]</a:t>
            </a:r>
          </a:p>
          <a:p>
            <a:pPr algn="ctr">
              <a:spcBef>
                <a:spcPts val="600"/>
              </a:spcBef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Registration Number: [Reg No.]</a:t>
            </a:r>
          </a:p>
          <a:p>
            <a:pPr algn="ctr">
              <a:spcBef>
                <a:spcPts val="600"/>
              </a:spcBef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Department of Computer Science &amp; Engineering</a:t>
            </a:r>
          </a:p>
          <a:p>
            <a:pPr algn="ctr">
              <a:spcBef>
                <a:spcPts val="600"/>
              </a:spcBef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Dumka Engineering College</a:t>
            </a:r>
          </a:p>
          <a:p>
            <a:pPr algn="ctr">
              <a:spcBef>
                <a:spcPts val="600"/>
              </a:spcBef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Guide Name: [Guide Name]</a:t>
            </a:r>
          </a:p>
          <a:p>
            <a:pPr algn="ctr">
              <a:spcBef>
                <a:spcPts val="600"/>
              </a:spcBef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Academic Year: 2023-2024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Pityriasis Alba: A common hypopigmented skin disorder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Primarily affects children and adolescents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Causes light brown patches on the skin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Often accompanied by mild itching and scaling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Early diagnosis crucial for effective treatment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Artificial Intelligence enables automated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Deep Learning provides accurate and rapid diagnosis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Difficulty in manual diagnosis by visual inspection alone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Similar appearance with related conditions: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Vitiligo (complete pigment loss)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Eczema (inflammatory skin disease)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Tinea Versicolor (fungal infection)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Heavy dependency on specialized dermatologists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Limited accessibility in rural and underserved areas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Need for rapid, accessible, and accurate diagnostic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Develop automated detection system for Pityriasis Alba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Compare performance of multiple deep learning architectures: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Convolutional Neural Networks (CNN)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DenseNet architecture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ResNet architecture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Integrate detection model into a user-friendly web application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Improve diagnostic accessibility and reduce burden on specialists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Evaluate models using comprehensive performance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Total Dataset Size: 8,440 images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Disease Categories: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Pityriasis Alba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Vitiligo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Eczema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Tinea Versicolor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High-quality dermatological images from clinical sources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Diverse patient demographics for robust model training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Clinically validated and annotated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Image Resizing: All images standardized to 224×224 pixels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Normalization: Pixel values normalized to [0, 1] range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Data Augmentation: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Random rotation, flipping, and zooming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Brightness and contrast adjustments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Dataset Balancing: Stratified sampling for equal class distribution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Training and Testing Split: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- 70% training, 20% validation, 10%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Image Upload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Preprocessing (Resizing &amp; Normalization)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Feature Extraction (Deep Learning Model)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Model Prediction &amp; Confidence Score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Disease Analysis &amp; Classification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Result Generation &amp;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Deep Learning Models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Three state-of-the-art CNN architectures compared: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CNN (Convolutional Neural Network)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Traditional architecture for image classification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DenseNet (Densely Connected Convolutional Network)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Advanced architecture with dense connectivity patterns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ResNet (Residual Network)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Deep network with skip connections for gradient flow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Multiple architectures ensure comprehensive performance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CNN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Convolution Layers: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Extract local features using learnable filters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Capture edges, textures, and patterns from images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Pooling Layers: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Reduce spatial dimensions and computational cost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Preserve important feature information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Fully Connected Layers: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Perform high-level reasoning on extracted features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Binary Classification Output: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Pityriasis Alba vs. Other skin conditions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DenseNet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Dense Connectivity: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Each layer connected to all preceding layers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Enables feature reuse across the network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Feature Reuse: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Concatenates features from multiple layers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Reduces parameters while maintaining expressiveness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Efficient Gradient Flow: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Improves gradient propagation during backpropagation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Improved Learning Efficiency: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Achieves high accuracy with fewer parameters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ResNet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Residual Learning: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Learns residual mappings instead of direct mappings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Enables training of very deep networks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Skip Connections: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Direct shortcuts across residual blocks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Mitigates vanishing gradient problem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Deep Feature Extraction: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Extracts complex hierarchical features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Improved Optimization: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Facilitates convergence of deep networks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Training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Optimizer: Adam (Adaptive Moment Estimation)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Adaptive learning rates for efficient convergence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Loss Function: Binary Cross Entropy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Suitable for binary classification tasks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Training Epochs: 10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Multiple independent runs for robust results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Batch Size: 32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Learning Rate: 0.001 (initial)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Early Stopping: Applied to prevent overfitting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Accuracy: Overall correctness of predictions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Precision: Proportion of positive predictions that are correct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Critical in medical diagnosis to avoid false positives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Recall: Proportion of actual positives identified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Essential for detecting all disease cases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F1 Score: Harmonic mean of Precision and Recall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Balanced measure for imbalanced datasets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AUROC: Area Under the Receiver Operating Characteristic Curve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  - Evaluates model's discriminative ability across thresholds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Model Comparison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7620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Times New Roman"/>
                        </a:rPr>
                        <a:t>Precision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Times New Roman"/>
                        </a:rPr>
                        <a:t>Recall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Times New Roman"/>
                        </a:rPr>
                        <a:t>F1 Score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Times New Roman"/>
                        </a:rPr>
                        <a:t>AUROC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CNN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78.84%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71.50%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95.31%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81.66%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89.11%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DenseNet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73.57%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67.58%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90.59%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77.26%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81.89%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ResNet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69.85%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64.10%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94.42%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75.85%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54321"/>
                          </a:solidFill>
                          <a:latin typeface="Times New Roman"/>
                        </a:rPr>
                        <a:t>85.83%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4513"/>
                </a:solidFill>
                <a:latin typeface="Times New Roman"/>
              </a:defRPr>
            </a:pPr>
            <a:r>
              <a:t>✓ CNN achieved the highest overall performance with 78.84% accuracy and best F1 Score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CNN Results - Best Performing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Performance Metrics: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Accuracy: 78.84%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Precision: 71.50%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Recall: 95.31%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F1 Score: 81.66%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AUROC: 89.11%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[Placeholder: Confusion Matrix visualization]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[Placeholder: ROC Curve graph]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✓ CNN achieved highest overall performance and best F1 Score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DenseNet Results - Balanced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Performance Metrics: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Accuracy: 73.57%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Precision: 67.58%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Recall: 90.59%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F1 Score: 77.26%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AUROC: 81.89%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[Placeholder: Confusion Matrix visualization]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[Placeholder: ROC Curve graph]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✓ Excellent recall capability for disease detection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ResNet Results - Strong Disease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Performance Metrics: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Accuracy: 69.85%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Precision: 64.10%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Recall: 94.42%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F1 Score: 75.85%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AUROC: 85.83%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[Placeholder: Confusion Matrix visualization]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[Placeholder: ROC Curve graph]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✓ Highest recall (94.42%) ensures minimal false negatives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Web Application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Developed User-Friendly Platform with: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Login Page: Secure authentication for users and healthcare providers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Dashboard: Real-time analytics and user statistics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Image Upload Page: Easy upload with drag-and-drop functionality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QR-based Mobile Upload: Mobile accessibility for on-field diagnosis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Prediction Result Page: Detailed classification with confidence scores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User Profile Page: Patient history and previous predictions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Doctor Consultation: Integration with healthcare professionals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4321"/>
                </a:solidFill>
                <a:latin typeface="Times New Roman"/>
              </a:defRPr>
            </a:pPr>
            <a: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Conclusion: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Deep learning successfully detects Pityriasis Alba with high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CNN achieved best overall results (78.84% accuracy)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Practical deployment achieved through integrated web platform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Future Scope: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Doctor consultation integration for remote diagnosis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Expansion to larger and diverse clinical datasets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Multi-disease classification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Mobile application deployment on iOS/Android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• Real-time feedback mechanism for continuous improvement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B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54321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8860B"/>
                </a:solidFill>
                <a:latin typeface="Times New Roman"/>
              </a:defRPr>
            </a:pPr>
            <a:r>
              <a:t>Questions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54321"/>
                </a:solidFill>
                <a:latin typeface="Times New Roman"/>
              </a:defRPr>
            </a:pPr>
            <a:r>
              <a:t>[Your Email]</a:t>
            </a:r>
            <a:br/>
            <a:r>
              <a:t>[Your Contact Number]</a:t>
            </a:r>
            <a:br/>
            <a:r>
              <a:t>[College 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