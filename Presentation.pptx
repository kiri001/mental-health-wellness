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Automated Pityriasis Alba Detection Using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Student Name: [Your Name]</a:t>
            </a:r>
          </a:p>
          <a:p>
            <a:pPr>
              <a:defRPr sz="1400" b="1">
                <a:latin typeface="Times New Roman"/>
              </a:defRPr>
            </a:pPr>
            <a:r>
              <a:t>Registration Number: [Your Reg No]</a:t>
            </a:r>
          </a:p>
          <a:p>
            <a:pPr>
              <a:defRPr sz="1400" b="1">
                <a:latin typeface="Times New Roman"/>
              </a:defRPr>
            </a:pPr>
            <a:r>
              <a:t>Department of Computer Science &amp; Engineering</a:t>
            </a:r>
          </a:p>
          <a:p>
            <a:pPr>
              <a:defRPr sz="1400" b="1">
                <a:latin typeface="Times New Roman"/>
              </a:defRPr>
            </a:pPr>
            <a:r>
              <a:t>Dumka Engineering College</a:t>
            </a:r>
          </a:p>
          <a:p>
            <a:pPr>
              <a:defRPr sz="1400" b="1">
                <a:latin typeface="Times New Roman"/>
              </a:defRPr>
            </a:pPr>
            <a:r>
              <a:t>Guide Name: [Guide Name]</a:t>
            </a:r>
          </a:p>
          <a:p>
            <a:pPr>
              <a:defRPr sz="1400" b="1">
                <a:latin typeface="Times New Roman"/>
              </a:defRPr>
            </a:pPr>
            <a:r>
              <a:t>Academic Year: [Year]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Pityriasis Alba is a common hypopigmented skin disorder affecting mainly children and adolescents.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Importance of Early Diagnosis:</a:t>
            </a:r>
          </a:p>
          <a:p>
            <a:pPr lvl="1">
              <a:defRPr sz="1200">
                <a:latin typeface="Times New Roman"/>
              </a:defRPr>
            </a:pPr>
            <a:r>
              <a:t>Essential for effective management and patient reassurance.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Role of Artificial Intelligence:</a:t>
            </a:r>
          </a:p>
          <a:p>
            <a:pPr lvl="1">
              <a:defRPr sz="1200">
                <a:latin typeface="Times New Roman"/>
              </a:defRPr>
            </a:pPr>
            <a:r>
              <a:t>AI enables automated, accurate, and rapid skin disease detection.</a:t>
            </a:r>
          </a:p>
          <a:p>
            <a:pPr lvl="1">
              <a:defRPr sz="1200">
                <a:latin typeface="Times New Roman"/>
              </a:defRPr>
            </a:pPr>
            <a:r>
              <a:t>Reduces manual diagnostic errors and provides scalable healthcare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Challenges in Current Diagnosis:</a:t>
            </a:r>
          </a:p>
          <a:p>
            <a:pPr lvl="1">
              <a:defRPr sz="1200">
                <a:latin typeface="Times New Roman"/>
              </a:defRPr>
            </a:pPr>
            <a:r>
              <a:t>Difficulty in manual diagnosis due to subtle visual features</a:t>
            </a:r>
          </a:p>
          <a:p>
            <a:pPr lvl="1">
              <a:defRPr sz="1200">
                <a:latin typeface="Times New Roman"/>
              </a:defRPr>
            </a:pPr>
            <a:r>
              <a:t>Similar appearance with Vitiligo, Eczema, and Tinea Versicolor</a:t>
            </a:r>
          </a:p>
          <a:p>
            <a:pPr lvl="1">
              <a:defRPr sz="1200">
                <a:latin typeface="Times New Roman"/>
              </a:defRPr>
            </a:pPr>
            <a:r>
              <a:t>High dependency on experienced dermatologists</a:t>
            </a:r>
          </a:p>
          <a:p>
            <a:pPr lvl="1">
              <a:defRPr sz="1200">
                <a:latin typeface="Times New Roman"/>
              </a:defRPr>
            </a:pPr>
            <a:r>
              <a:t>Limited accessibility to specialists in rural areas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Solution:</a:t>
            </a:r>
          </a:p>
          <a:p>
            <a:pPr lvl="1">
              <a:defRPr sz="1200">
                <a:latin typeface="Times New Roman"/>
              </a:defRPr>
            </a:pPr>
            <a:r>
              <a:t>A strong need for an automated, AI-driven diagnostic solution to assist medical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Key Objectives:</a:t>
            </a:r>
          </a:p>
          <a:p>
            <a:pPr lvl="1">
              <a:defRPr sz="1200">
                <a:latin typeface="Times New Roman"/>
              </a:defRPr>
            </a:pPr>
            <a:r>
              <a:t>Automated detection of Pityriasis Alba from skin lesion images</a:t>
            </a:r>
          </a:p>
          <a:p>
            <a:pPr lvl="1">
              <a:defRPr sz="1200">
                <a:latin typeface="Times New Roman"/>
              </a:defRPr>
            </a:pPr>
            <a:r>
              <a:t>Comparison of deep learning architectures: CNN, DenseNet, and ResNet</a:t>
            </a:r>
          </a:p>
          <a:p>
            <a:pPr lvl="1">
              <a:defRPr sz="1200">
                <a:latin typeface="Times New Roman"/>
              </a:defRPr>
            </a:pPr>
            <a:r>
              <a:t>Integration of the best model into a user-friendly web application</a:t>
            </a:r>
          </a:p>
          <a:p>
            <a:pPr lvl="1">
              <a:defRPr sz="1200">
                <a:latin typeface="Times New Roman"/>
              </a:defRPr>
            </a:pPr>
            <a:r>
              <a:t>Improvement of diagnostic accessibility for remote locations</a:t>
            </a:r>
          </a:p>
          <a:p>
            <a:pPr lvl="1">
              <a:defRPr sz="1200">
                <a:latin typeface="Times New Roman"/>
              </a:defRPr>
            </a:pPr>
            <a:r>
              <a:t>Comprehensive evaluation using multiple performance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Dataset Details:</a:t>
            </a:r>
          </a:p>
          <a:p>
            <a:pPr lvl="1">
              <a:defRPr sz="1200">
                <a:latin typeface="Times New Roman"/>
              </a:defRPr>
            </a:pPr>
            <a:r>
              <a:t>Total dataset size: 8,440 images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Disease Categories:</a:t>
            </a:r>
          </a:p>
          <a:p>
            <a:pPr lvl="1">
              <a:defRPr sz="1200">
                <a:latin typeface="Times New Roman"/>
              </a:defRPr>
            </a:pPr>
            <a:r>
              <a:t>Pityriasis Alba</a:t>
            </a:r>
          </a:p>
          <a:p>
            <a:pPr lvl="1">
              <a:defRPr sz="1200">
                <a:latin typeface="Times New Roman"/>
              </a:defRPr>
            </a:pPr>
            <a:r>
              <a:t>Vitiligo</a:t>
            </a:r>
          </a:p>
          <a:p>
            <a:pPr lvl="1">
              <a:defRPr sz="1200">
                <a:latin typeface="Times New Roman"/>
              </a:defRPr>
            </a:pPr>
            <a:r>
              <a:t>Eczema</a:t>
            </a:r>
          </a:p>
          <a:p>
            <a:pPr lvl="1">
              <a:defRPr sz="1200">
                <a:latin typeface="Times New Roman"/>
              </a:defRPr>
            </a:pPr>
            <a:r>
              <a:t>Tinea Versicolor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Significance:</a:t>
            </a:r>
          </a:p>
          <a:p>
            <a:pPr lvl="1">
              <a:defRPr sz="1200">
                <a:latin typeface="Times New Roman"/>
              </a:defRPr>
            </a:pPr>
            <a:r>
              <a:t>High dataset diversity ensuring clinical relevance and model robustness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Steps Taken:</a:t>
            </a:r>
          </a:p>
          <a:p>
            <a:pPr lvl="1">
              <a:defRPr sz="1200">
                <a:latin typeface="Times New Roman"/>
              </a:defRPr>
            </a:pPr>
            <a:r>
              <a:t>Image resizing to standard dimensions for model input</a:t>
            </a:r>
          </a:p>
          <a:p>
            <a:pPr lvl="1">
              <a:defRPr sz="1200">
                <a:latin typeface="Times New Roman"/>
              </a:defRPr>
            </a:pPr>
            <a:r>
              <a:t>Normalization of pixel values for faster convergence</a:t>
            </a:r>
          </a:p>
          <a:p>
            <a:pPr lvl="1">
              <a:defRPr sz="1200">
                <a:latin typeface="Times New Roman"/>
              </a:defRPr>
            </a:pPr>
            <a:r>
              <a:t>Data augmentation to improve model generalization</a:t>
            </a:r>
          </a:p>
          <a:p>
            <a:pPr lvl="1">
              <a:defRPr sz="1200">
                <a:latin typeface="Times New Roman"/>
              </a:defRPr>
            </a:pPr>
            <a:r>
              <a:t>Dataset balancing to handle class disparities</a:t>
            </a:r>
          </a:p>
          <a:p>
            <a:pPr lvl="1">
              <a:defRPr sz="1200">
                <a:latin typeface="Times New Roman"/>
              </a:defRPr>
            </a:pPr>
            <a:r>
              <a:t>Training, validation, and testing split (e.g., 70:15:15)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Workflow:</a:t>
            </a:r>
          </a:p>
          <a:p>
            <a:pPr>
              <a:defRPr sz="1400" b="1">
                <a:latin typeface="Times New Roman"/>
              </a:defRPr>
            </a:pPr>
            <a:r>
              <a:t>Image Upload → Preprocessing → Feature Extraction → Model Prediction → Disease Analysis → Result Generation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[Placeholder for Visual Workflow Diagram]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Deep Learning 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Architectures Explored:</a:t>
            </a:r>
          </a:p>
          <a:p>
            <a:pPr lvl="1">
              <a:defRPr sz="1200">
                <a:latin typeface="Times New Roman"/>
              </a:defRPr>
            </a:pPr>
            <a:r>
              <a:t>CNN (Custom Convolutional Neural Network)</a:t>
            </a:r>
          </a:p>
          <a:p>
            <a:pPr lvl="1">
              <a:defRPr sz="1200">
                <a:latin typeface="Times New Roman"/>
              </a:defRPr>
            </a:pPr>
            <a:r>
              <a:t>DenseNet</a:t>
            </a:r>
          </a:p>
          <a:p>
            <a:pPr lvl="1">
              <a:defRPr sz="1200">
                <a:latin typeface="Times New Roman"/>
              </a:defRPr>
            </a:pPr>
            <a:r>
              <a:t>ResNet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Why Multiple Architectures?</a:t>
            </a:r>
          </a:p>
          <a:p>
            <a:pPr lvl="1">
              <a:defRPr sz="1200">
                <a:latin typeface="Times New Roman"/>
              </a:defRPr>
            </a:pPr>
            <a:r>
              <a:t>To compare lightweight custom models against deep pre-trained networks.</a:t>
            </a:r>
          </a:p>
          <a:p>
            <a:pPr lvl="1">
              <a:defRPr sz="1200">
                <a:latin typeface="Times New Roman"/>
              </a:defRPr>
            </a:pPr>
            <a:r>
              <a:t>To identify the best balance between accuracy and computational efficiency for web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CNN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CNN Components:</a:t>
            </a:r>
          </a:p>
          <a:p>
            <a:pPr lvl="1">
              <a:defRPr sz="1200">
                <a:latin typeface="Times New Roman"/>
              </a:defRPr>
            </a:pPr>
            <a:r>
              <a:t>Convolution layers for localized feature extraction</a:t>
            </a:r>
          </a:p>
          <a:p>
            <a:pPr lvl="1">
              <a:defRPr sz="1200">
                <a:latin typeface="Times New Roman"/>
              </a:defRPr>
            </a:pPr>
            <a:r>
              <a:t>Pooling layers for spatial dimension reduction</a:t>
            </a:r>
          </a:p>
          <a:p>
            <a:pPr lvl="1">
              <a:defRPr sz="1200">
                <a:latin typeface="Times New Roman"/>
              </a:defRPr>
            </a:pPr>
            <a:r>
              <a:t>Fully connected layers for high-level reasoning</a:t>
            </a:r>
          </a:p>
          <a:p>
            <a:pPr lvl="1">
              <a:defRPr sz="1200">
                <a:latin typeface="Times New Roman"/>
              </a:defRPr>
            </a:pPr>
            <a:r>
              <a:t>Binary/Multi-class classification output layer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Highlight:</a:t>
            </a:r>
          </a:p>
          <a:p>
            <a:pPr lvl="1">
              <a:defRPr sz="1200">
                <a:latin typeface="Times New Roman"/>
              </a:defRPr>
            </a:pPr>
            <a:r>
              <a:t>Excellent at capturing hierarchical spatial features from skin images.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DenseNet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DenseNet Features:</a:t>
            </a:r>
          </a:p>
          <a:p>
            <a:pPr lvl="1">
              <a:defRPr sz="1200">
                <a:latin typeface="Times New Roman"/>
              </a:defRPr>
            </a:pPr>
            <a:r>
              <a:t>Dense connectivity where each layer receives inputs from all preceding layers</a:t>
            </a:r>
          </a:p>
          <a:p>
            <a:pPr lvl="1">
              <a:defRPr sz="1200">
                <a:latin typeface="Times New Roman"/>
              </a:defRPr>
            </a:pPr>
            <a:r>
              <a:t>Feature reuse for maximized information flow</a:t>
            </a:r>
          </a:p>
          <a:p>
            <a:pPr lvl="1">
              <a:defRPr sz="1200">
                <a:latin typeface="Times New Roman"/>
              </a:defRPr>
            </a:pPr>
            <a:r>
              <a:t>Efficient gradient flow mitigating the vanishing gradient problem</a:t>
            </a:r>
          </a:p>
          <a:p>
            <a:pPr lvl="1">
              <a:defRPr sz="1200">
                <a:latin typeface="Times New Roman"/>
              </a:defRPr>
            </a:pPr>
            <a:r>
              <a:t>Improved learning efficiency with fewer parameters compared to traditional deep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ResNet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ResNet Features:</a:t>
            </a:r>
          </a:p>
          <a:p>
            <a:pPr lvl="1">
              <a:defRPr sz="1200">
                <a:latin typeface="Times New Roman"/>
              </a:defRPr>
            </a:pPr>
            <a:r>
              <a:t>Residual learning framework</a:t>
            </a:r>
          </a:p>
          <a:p>
            <a:pPr lvl="1">
              <a:defRPr sz="1200">
                <a:latin typeface="Times New Roman"/>
              </a:defRPr>
            </a:pPr>
            <a:r>
              <a:t>Skip connections that bypass some layers</a:t>
            </a:r>
          </a:p>
          <a:p>
            <a:pPr lvl="1">
              <a:defRPr sz="1200">
                <a:latin typeface="Times New Roman"/>
              </a:defRPr>
            </a:pPr>
            <a:r>
              <a:t>Deep feature extraction without degradation</a:t>
            </a:r>
          </a:p>
          <a:p>
            <a:pPr lvl="1">
              <a:defRPr sz="1200">
                <a:latin typeface="Times New Roman"/>
              </a:defRPr>
            </a:pPr>
            <a:r>
              <a:t>Improved optimization and training of very deep networks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Training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Parameters:</a:t>
            </a:r>
          </a:p>
          <a:p>
            <a:pPr lvl="1">
              <a:defRPr sz="1200">
                <a:latin typeface="Times New Roman"/>
              </a:defRPr>
            </a:pPr>
            <a:r>
              <a:t>Optimizer: Adam</a:t>
            </a:r>
          </a:p>
          <a:p>
            <a:pPr lvl="1">
              <a:defRPr sz="1200">
                <a:latin typeface="Times New Roman"/>
              </a:defRPr>
            </a:pPr>
            <a:r>
              <a:t>Loss Function: Categorical / Binary Cross Entropy</a:t>
            </a:r>
          </a:p>
          <a:p>
            <a:pPr lvl="1">
              <a:defRPr sz="1200">
                <a:latin typeface="Times New Roman"/>
              </a:defRPr>
            </a:pPr>
            <a:r>
              <a:t>Epochs: 10</a:t>
            </a:r>
          </a:p>
          <a:p>
            <a:pPr lvl="1">
              <a:defRPr sz="1200">
                <a:latin typeface="Times New Roman"/>
              </a:defRPr>
            </a:pPr>
            <a:r>
              <a:t>Multiple independent runs for reliability</a:t>
            </a:r>
          </a:p>
          <a:p>
            <a:pPr lvl="1">
              <a:defRPr sz="1200">
                <a:latin typeface="Times New Roman"/>
              </a:defRPr>
            </a:pPr>
            <a:r>
              <a:t>Tracked evaluation metrics across epochs to prevent overfitting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Metrics Defined:</a:t>
            </a:r>
          </a:p>
          <a:p>
            <a:pPr lvl="1">
              <a:defRPr sz="1200">
                <a:latin typeface="Times New Roman"/>
              </a:defRPr>
            </a:pPr>
            <a:r>
              <a:t>Accuracy: Overall correctness of the model</a:t>
            </a:r>
          </a:p>
          <a:p>
            <a:pPr lvl="1">
              <a:defRPr sz="1200">
                <a:latin typeface="Times New Roman"/>
              </a:defRPr>
            </a:pPr>
            <a:r>
              <a:t>Precision: Proportion of true positive results among all positive predictions</a:t>
            </a:r>
          </a:p>
          <a:p>
            <a:pPr lvl="1">
              <a:defRPr sz="1200">
                <a:latin typeface="Times New Roman"/>
              </a:defRPr>
            </a:pPr>
            <a:r>
              <a:t>Recall: Ability to identify all actual positive cases</a:t>
            </a:r>
          </a:p>
          <a:p>
            <a:pPr lvl="1">
              <a:defRPr sz="1200">
                <a:latin typeface="Times New Roman"/>
              </a:defRPr>
            </a:pPr>
            <a:r>
              <a:t>F1 Score: Harmonic mean of Precision and Recall</a:t>
            </a:r>
          </a:p>
          <a:p>
            <a:pPr lvl="1">
              <a:defRPr sz="1200">
                <a:latin typeface="Times New Roman"/>
              </a:defRPr>
            </a:pPr>
            <a:r>
              <a:t>AUROC: Area Under the Receiver Operating Characteristic Curve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Importance:</a:t>
            </a:r>
          </a:p>
          <a:p>
            <a:pPr lvl="1">
              <a:defRPr sz="1200">
                <a:latin typeface="Times New Roman"/>
              </a:defRPr>
            </a:pPr>
            <a:r>
              <a:t>Critical in medical diagnosis to minimize false negatives (Recall) and false positives (Precision).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Model Comparison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Model Performance: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CNN:</a:t>
            </a:r>
          </a:p>
          <a:p>
            <a:pPr lvl="1">
              <a:defRPr sz="1200">
                <a:latin typeface="Times New Roman"/>
              </a:defRPr>
            </a:pPr>
            <a:r>
              <a:t>Accuracy: 78.84% | Precision: 71.50% | Recall: 95.31% | F1 Score: 81.66% | AUROC: 89.11%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DenseNet:</a:t>
            </a:r>
          </a:p>
          <a:p>
            <a:pPr lvl="1">
              <a:defRPr sz="1200">
                <a:latin typeface="Times New Roman"/>
              </a:defRPr>
            </a:pPr>
            <a:r>
              <a:t>Accuracy: 73.57% | Precision: 67.58% | Recall: 90.59% | F1 Score: 77.26% | AUROC: 81.89%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ResNet:</a:t>
            </a:r>
          </a:p>
          <a:p>
            <a:pPr lvl="1">
              <a:defRPr sz="1200">
                <a:latin typeface="Times New Roman"/>
              </a:defRPr>
            </a:pPr>
            <a:r>
              <a:t>Accuracy: 69.85% | Precision: 64.10% | Recall: 94.42% | F1 Score: 75.85% | AUROC: 85.83%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Conclusion: CNN is the best-performing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CNN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[Placeholder for Confusion Matrix]</a:t>
            </a:r>
          </a:p>
          <a:p>
            <a:pPr>
              <a:defRPr sz="1400" b="1">
                <a:latin typeface="Times New Roman"/>
              </a:defRPr>
            </a:pPr>
            <a:r>
              <a:t>[Placeholder for ROC Curve]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Key Performance:</a:t>
            </a:r>
          </a:p>
          <a:p>
            <a:pPr lvl="1">
              <a:defRPr sz="1200">
                <a:latin typeface="Times New Roman"/>
              </a:defRPr>
            </a:pPr>
            <a:r>
              <a:t>Achieved the highest overall accuracy (78.84%) and AUROC (89.11%).</a:t>
            </a:r>
          </a:p>
          <a:p>
            <a:pPr lvl="1">
              <a:defRPr sz="1200">
                <a:latin typeface="Times New Roman"/>
              </a:defRPr>
            </a:pPr>
            <a:r>
              <a:t>Most balanced capability for Pityriasis Alba detection.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DenseNet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[Placeholder for Confusion Matrix]</a:t>
            </a:r>
          </a:p>
          <a:p>
            <a:pPr>
              <a:defRPr sz="1400" b="1">
                <a:latin typeface="Times New Roman"/>
              </a:defRPr>
            </a:pPr>
            <a:r>
              <a:t>[Placeholder for ROC Curve]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Key Performance:</a:t>
            </a:r>
          </a:p>
          <a:p>
            <a:pPr lvl="1">
              <a:defRPr sz="1200">
                <a:latin typeface="Times New Roman"/>
              </a:defRPr>
            </a:pPr>
            <a:r>
              <a:t>Accuracy: 73.57%</a:t>
            </a:r>
          </a:p>
          <a:p>
            <a:pPr lvl="1">
              <a:defRPr sz="1200">
                <a:latin typeface="Times New Roman"/>
              </a:defRPr>
            </a:pPr>
            <a:r>
              <a:t>Strong balanced classification capability.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ResNet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[Placeholder for Confusion Matrix]</a:t>
            </a:r>
          </a:p>
          <a:p>
            <a:pPr>
              <a:defRPr sz="1400" b="1">
                <a:latin typeface="Times New Roman"/>
              </a:defRPr>
            </a:pPr>
            <a:r>
              <a:t>[Placeholder for ROC Curve]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Key Performance:</a:t>
            </a:r>
          </a:p>
          <a:p>
            <a:pPr lvl="1">
              <a:defRPr sz="1200">
                <a:latin typeface="Times New Roman"/>
              </a:defRPr>
            </a:pPr>
            <a:r>
              <a:t>Accuracy: 69.85%</a:t>
            </a:r>
          </a:p>
          <a:p>
            <a:pPr lvl="1">
              <a:defRPr sz="1200">
                <a:latin typeface="Times New Roman"/>
              </a:defRPr>
            </a:pPr>
            <a:r>
              <a:t>Strong disease detection capability through high recall (94.42%).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Key Platform Features:</a:t>
            </a:r>
          </a:p>
          <a:p>
            <a:pPr lvl="1">
              <a:defRPr sz="1200">
                <a:latin typeface="Times New Roman"/>
              </a:defRPr>
            </a:pPr>
            <a:r>
              <a:t>Login Page &amp; User Profile Page</a:t>
            </a:r>
          </a:p>
          <a:p>
            <a:pPr lvl="1">
              <a:defRPr sz="1200">
                <a:latin typeface="Times New Roman"/>
              </a:defRPr>
            </a:pPr>
            <a:r>
              <a:t>Dashboard for Analytics</a:t>
            </a:r>
          </a:p>
          <a:p>
            <a:pPr lvl="1">
              <a:defRPr sz="1200">
                <a:latin typeface="Times New Roman"/>
              </a:defRPr>
            </a:pPr>
            <a:r>
              <a:t>Image Upload Page</a:t>
            </a:r>
          </a:p>
          <a:p>
            <a:pPr lvl="1">
              <a:defRPr sz="1200">
                <a:latin typeface="Times New Roman"/>
              </a:defRPr>
            </a:pPr>
            <a:r>
              <a:t>QR-based Mobile Upload</a:t>
            </a:r>
          </a:p>
          <a:p>
            <a:pPr lvl="1">
              <a:defRPr sz="1200">
                <a:latin typeface="Times New Roman"/>
              </a:defRPr>
            </a:pPr>
            <a:r>
              <a:t>Prediction Result Page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[Placeholder for Web Application Screenshots]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Conclusion and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  <a:r>
              <a:t>Conclusion:</a:t>
            </a:r>
          </a:p>
          <a:p>
            <a:pPr lvl="1">
              <a:defRPr sz="1200">
                <a:latin typeface="Times New Roman"/>
              </a:defRPr>
            </a:pPr>
            <a:r>
              <a:t>Deep learning successfully detects Pityriasis Alba.</a:t>
            </a:r>
          </a:p>
          <a:p>
            <a:pPr lvl="1">
              <a:defRPr sz="1200">
                <a:latin typeface="Times New Roman"/>
              </a:defRPr>
            </a:pPr>
            <a:r>
              <a:t>CNN achieved the best overall results (78.84% accuracy).</a:t>
            </a:r>
          </a:p>
          <a:p>
            <a:pPr lvl="1">
              <a:defRPr sz="1200">
                <a:latin typeface="Times New Roman"/>
              </a:defRPr>
            </a:pPr>
            <a:r>
              <a:t>Practical deployment achieved through web integration.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Future Scope:</a:t>
            </a:r>
          </a:p>
          <a:p>
            <a:pPr lvl="1">
              <a:defRPr sz="1200">
                <a:latin typeface="Times New Roman"/>
              </a:defRPr>
            </a:pPr>
            <a:r>
              <a:t>Doctor consultation integration</a:t>
            </a:r>
          </a:p>
          <a:p>
            <a:pPr lvl="1">
              <a:defRPr sz="1200">
                <a:latin typeface="Times New Roman"/>
              </a:defRPr>
            </a:pPr>
            <a:r>
              <a:t>Larger clinical datasets</a:t>
            </a:r>
          </a:p>
          <a:p>
            <a:pPr lvl="1">
              <a:defRPr sz="1200">
                <a:latin typeface="Times New Roman"/>
              </a:defRPr>
            </a:pPr>
            <a:r>
              <a:t>Improved accuracy and robustness</a:t>
            </a:r>
          </a:p>
          <a:p>
            <a:pPr lvl="1">
              <a:defRPr sz="1200">
                <a:latin typeface="Times New Roman"/>
              </a:defRPr>
            </a:pPr>
            <a:r>
              <a:t>Multi-disease classification</a:t>
            </a:r>
          </a:p>
          <a:p>
            <a:pPr lvl="1">
              <a:defRPr sz="1200">
                <a:latin typeface="Times New Roman"/>
              </a:defRPr>
            </a:pPr>
            <a:r>
              <a:t>Mobile application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D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1600" b="1"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270000"/>
            <a:ext cx="7874000" cy="495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Questions and Discussion</a:t>
            </a:r>
          </a:p>
          <a:p>
            <a:pPr>
              <a:defRPr sz="1400" b="1">
                <a:latin typeface="Times New Roman"/>
              </a:defRPr>
            </a:pPr>
          </a:p>
          <a:p>
            <a:pPr>
              <a:defRPr sz="1400" b="1">
                <a:latin typeface="Times New Roman"/>
              </a:defRPr>
            </a:pPr>
            <a:r>
              <a:t>[Placeholder for Medical AI-themed Graphics]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